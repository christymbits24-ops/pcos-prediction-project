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Playfair Display" panose="00000500000000000000" pitchFamily="2" charset="0"/>
      <p:regular r:id="rId12"/>
    </p:embeddedFont>
    <p:embeddedFont>
      <p:font typeface="Playfair Display Bold" panose="00000800000000000000" charset="0"/>
      <p:regular r:id="rId13"/>
    </p:embeddedFont>
    <p:embeddedFont>
      <p:font typeface="Scheherazade" panose="020B0604020202020204" charset="-78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163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Y JOMON" userId="e7e4167e25a5ae4b" providerId="LiveId" clId="{F656FA0C-0ACB-425D-9306-5029C05C26E4}"/>
    <pc:docChg chg="modSld">
      <pc:chgData name="CHRISTY JOMON" userId="e7e4167e25a5ae4b" providerId="LiveId" clId="{F656FA0C-0ACB-425D-9306-5029C05C26E4}" dt="2026-08-04T19:02:51.509" v="1" actId="20577"/>
      <pc:docMkLst>
        <pc:docMk/>
      </pc:docMkLst>
      <pc:sldChg chg="modSp mod">
        <pc:chgData name="CHRISTY JOMON" userId="e7e4167e25a5ae4b" providerId="LiveId" clId="{F656FA0C-0ACB-425D-9306-5029C05C26E4}" dt="2026-08-04T19:02:51.509" v="1" actId="20577"/>
        <pc:sldMkLst>
          <pc:docMk/>
          <pc:sldMk cId="0" sldId="256"/>
        </pc:sldMkLst>
        <pc:spChg chg="mod">
          <ac:chgData name="CHRISTY JOMON" userId="e7e4167e25a5ae4b" providerId="LiveId" clId="{F656FA0C-0ACB-425D-9306-5029C05C26E4}" dt="2026-08-04T19:02:51.509" v="1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12580" y="-667965"/>
            <a:ext cx="3753329" cy="3739681"/>
          </a:xfrm>
          <a:custGeom>
            <a:avLst/>
            <a:gdLst/>
            <a:ahLst/>
            <a:cxnLst/>
            <a:rect l="l" t="t" r="r" b="b"/>
            <a:pathLst>
              <a:path w="3753329" h="3739681">
                <a:moveTo>
                  <a:pt x="0" y="0"/>
                </a:moveTo>
                <a:lnTo>
                  <a:pt x="3753329" y="0"/>
                </a:lnTo>
                <a:lnTo>
                  <a:pt x="3753329" y="3739680"/>
                </a:lnTo>
                <a:lnTo>
                  <a:pt x="0" y="3739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12580" y="2713546"/>
            <a:ext cx="2936964" cy="2926285"/>
          </a:xfrm>
          <a:custGeom>
            <a:avLst/>
            <a:gdLst/>
            <a:ahLst/>
            <a:cxnLst/>
            <a:rect l="l" t="t" r="r" b="b"/>
            <a:pathLst>
              <a:path w="2936964" h="2926285">
                <a:moveTo>
                  <a:pt x="0" y="0"/>
                </a:moveTo>
                <a:lnTo>
                  <a:pt x="2936964" y="0"/>
                </a:lnTo>
                <a:lnTo>
                  <a:pt x="2936964" y="2926284"/>
                </a:lnTo>
                <a:lnTo>
                  <a:pt x="0" y="2926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40222" y="3229732"/>
            <a:ext cx="3852802" cy="3838792"/>
          </a:xfrm>
          <a:custGeom>
            <a:avLst/>
            <a:gdLst/>
            <a:ahLst/>
            <a:cxnLst/>
            <a:rect l="l" t="t" r="r" b="b"/>
            <a:pathLst>
              <a:path w="3852802" h="3838792">
                <a:moveTo>
                  <a:pt x="0" y="0"/>
                </a:moveTo>
                <a:lnTo>
                  <a:pt x="3852802" y="0"/>
                </a:lnTo>
                <a:lnTo>
                  <a:pt x="3852802" y="3838792"/>
                </a:lnTo>
                <a:lnTo>
                  <a:pt x="0" y="38387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801351" y="3048757"/>
            <a:ext cx="9457949" cy="169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999"/>
              </a:lnSpc>
            </a:pPr>
            <a:r>
              <a:rPr lang="en-US" sz="9999" b="1">
                <a:solidFill>
                  <a:srgbClr val="3532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Presentation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65909" y="4817329"/>
            <a:ext cx="9993391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000"/>
              </a:lnSpc>
            </a:pPr>
            <a:r>
              <a:rPr lang="en-US" sz="5000" dirty="0">
                <a:solidFill>
                  <a:srgbClr val="35322E"/>
                </a:solidFill>
                <a:latin typeface="Scheherazade"/>
                <a:ea typeface="Scheherazade"/>
                <a:cs typeface="Scheherazade"/>
                <a:sym typeface="Scheherazade"/>
              </a:rPr>
              <a:t>PMOS Risk Prediction Using Machine Learning </a:t>
            </a:r>
          </a:p>
        </p:txBody>
      </p:sp>
      <p:sp>
        <p:nvSpPr>
          <p:cNvPr id="7" name="Freeform 7"/>
          <p:cNvSpPr/>
          <p:nvPr/>
        </p:nvSpPr>
        <p:spPr>
          <a:xfrm>
            <a:off x="15634047" y="7338904"/>
            <a:ext cx="3852802" cy="3838792"/>
          </a:xfrm>
          <a:custGeom>
            <a:avLst/>
            <a:gdLst/>
            <a:ahLst/>
            <a:cxnLst/>
            <a:rect l="l" t="t" r="r" b="b"/>
            <a:pathLst>
              <a:path w="3852802" h="3838792">
                <a:moveTo>
                  <a:pt x="0" y="0"/>
                </a:moveTo>
                <a:lnTo>
                  <a:pt x="3852802" y="0"/>
                </a:lnTo>
                <a:lnTo>
                  <a:pt x="3852802" y="3838792"/>
                </a:lnTo>
                <a:lnTo>
                  <a:pt x="0" y="38387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476609"/>
            <a:ext cx="945794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0"/>
              </a:lnSpc>
            </a:pPr>
            <a:r>
              <a:rPr lang="en-US" sz="6000" b="1">
                <a:solidFill>
                  <a:srgbClr val="35322E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Project Details</a:t>
            </a:r>
          </a:p>
        </p:txBody>
      </p:sp>
      <p:sp>
        <p:nvSpPr>
          <p:cNvPr id="4" name="TextBox 4"/>
          <p:cNvSpPr txBox="1"/>
          <p:nvPr/>
        </p:nvSpPr>
        <p:spPr>
          <a:xfrm rot="1718166">
            <a:off x="13313436" y="9450056"/>
            <a:ext cx="10684666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99"/>
              </a:lnSpc>
            </a:pPr>
            <a:endParaRPr lang="en-US" sz="3999" dirty="0">
              <a:solidFill>
                <a:srgbClr val="35322E"/>
              </a:solidFill>
              <a:latin typeface="Scheherazade"/>
              <a:ea typeface="Scheherazade"/>
              <a:cs typeface="Scheherazade"/>
              <a:sym typeface="Scheherazade"/>
            </a:endParaRPr>
          </a:p>
          <a:p>
            <a:pPr algn="r">
              <a:lnSpc>
                <a:spcPts val="4799"/>
              </a:lnSpc>
            </a:pPr>
            <a:endParaRPr lang="en-US" sz="3999" dirty="0">
              <a:solidFill>
                <a:srgbClr val="35322E"/>
              </a:solidFill>
              <a:latin typeface="Scheherazade"/>
              <a:ea typeface="Scheherazade"/>
              <a:cs typeface="Scheherazade"/>
              <a:sym typeface="Scheherazad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233379" y="1831059"/>
            <a:ext cx="11164252" cy="146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532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Hormonal disorder affecting women of reproductive age.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532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Symptoms: irregular periods, acne, weight gain, excess hair growth.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532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Early prediction helps users seek timely medical advice.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64B8C5-9486-3B42-6C40-359039067174}"/>
              </a:ext>
            </a:extLst>
          </p:cNvPr>
          <p:cNvSpPr txBox="1"/>
          <p:nvPr/>
        </p:nvSpPr>
        <p:spPr>
          <a:xfrm>
            <a:off x="2239910" y="4076700"/>
            <a:ext cx="11821884" cy="4978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275"/>
              </a:lnSpc>
              <a:buNone/>
            </a:pPr>
            <a:r>
              <a:rPr lang="en-IN" b="0" i="0" dirty="0">
                <a:effectLst/>
                <a:latin typeface="Playfair Display" panose="00000500000000000000" pitchFamily="2" charset="0"/>
              </a:rPr>
              <a:t>•Project Title:</a:t>
            </a:r>
            <a:endParaRPr lang="en-IN" dirty="0">
              <a:effectLst/>
              <a:latin typeface="Playfair Display" panose="00000500000000000000" pitchFamily="2" charset="0"/>
            </a:endParaRPr>
          </a:p>
          <a:p>
            <a:pPr>
              <a:lnSpc>
                <a:spcPts val="4275"/>
              </a:lnSpc>
              <a:buNone/>
            </a:pPr>
            <a:r>
              <a:rPr lang="en-IN" b="0" i="0" dirty="0">
                <a:effectLst/>
                <a:latin typeface="Playfair Display" panose="00000500000000000000" pitchFamily="2" charset="0"/>
              </a:rPr>
              <a:t>•PCOS Risk Prediction Using Machine Learning</a:t>
            </a:r>
            <a:endParaRPr lang="en-IN" dirty="0">
              <a:effectLst/>
              <a:latin typeface="Playfair Display" panose="00000500000000000000" pitchFamily="2" charset="0"/>
            </a:endParaRPr>
          </a:p>
          <a:p>
            <a:pPr>
              <a:lnSpc>
                <a:spcPts val="4275"/>
              </a:lnSpc>
              <a:buNone/>
            </a:pPr>
            <a:r>
              <a:rPr lang="en-IN" b="0" i="0" dirty="0">
                <a:effectLst/>
                <a:latin typeface="Playfair Display" panose="00000500000000000000" pitchFamily="2" charset="0"/>
              </a:rPr>
              <a:t>•Problem Statement:</a:t>
            </a:r>
            <a:endParaRPr lang="en-IN" dirty="0">
              <a:effectLst/>
              <a:latin typeface="Playfair Display" panose="00000500000000000000" pitchFamily="2" charset="0"/>
            </a:endParaRPr>
          </a:p>
          <a:p>
            <a:pPr>
              <a:lnSpc>
                <a:spcPts val="4275"/>
              </a:lnSpc>
              <a:buNone/>
            </a:pPr>
            <a:r>
              <a:rPr lang="en-IN" b="0" i="0" dirty="0">
                <a:effectLst/>
                <a:latin typeface="Playfair Display" panose="00000500000000000000" pitchFamily="2" charset="0"/>
              </a:rPr>
              <a:t>•• Early symptoms of PCOS are often ignored.</a:t>
            </a:r>
            <a:endParaRPr lang="en-IN" dirty="0">
              <a:effectLst/>
              <a:latin typeface="Playfair Display" panose="00000500000000000000" pitchFamily="2" charset="0"/>
            </a:endParaRPr>
          </a:p>
          <a:p>
            <a:pPr>
              <a:lnSpc>
                <a:spcPts val="4275"/>
              </a:lnSpc>
              <a:buNone/>
            </a:pPr>
            <a:r>
              <a:rPr lang="en-IN" b="0" i="0" dirty="0">
                <a:effectLst/>
                <a:latin typeface="Playfair Display" panose="00000500000000000000" pitchFamily="2" charset="0"/>
              </a:rPr>
              <a:t>•• Diagnosis requires clinical tests and scans.</a:t>
            </a:r>
            <a:endParaRPr lang="en-IN" dirty="0">
              <a:effectLst/>
              <a:latin typeface="Playfair Display" panose="00000500000000000000" pitchFamily="2" charset="0"/>
            </a:endParaRPr>
          </a:p>
          <a:p>
            <a:pPr>
              <a:lnSpc>
                <a:spcPts val="4275"/>
              </a:lnSpc>
              <a:buNone/>
            </a:pPr>
            <a:r>
              <a:rPr lang="en-IN" b="0" i="0" dirty="0">
                <a:effectLst/>
                <a:latin typeface="Playfair Display" panose="00000500000000000000" pitchFamily="2" charset="0"/>
              </a:rPr>
              <a:t>•Objectives:</a:t>
            </a:r>
            <a:endParaRPr lang="en-IN" dirty="0">
              <a:effectLst/>
              <a:latin typeface="Playfair Display" panose="00000500000000000000" pitchFamily="2" charset="0"/>
            </a:endParaRPr>
          </a:p>
          <a:p>
            <a:pPr>
              <a:lnSpc>
                <a:spcPts val="4275"/>
              </a:lnSpc>
              <a:buNone/>
            </a:pPr>
            <a:r>
              <a:rPr lang="en-IN" b="0" i="0" dirty="0">
                <a:effectLst/>
                <a:latin typeface="Playfair Display" panose="00000500000000000000" pitchFamily="2" charset="0"/>
              </a:rPr>
              <a:t>•• Predict PCOS risk.</a:t>
            </a:r>
            <a:endParaRPr lang="en-IN" dirty="0">
              <a:effectLst/>
              <a:latin typeface="Playfair Display" panose="00000500000000000000" pitchFamily="2" charset="0"/>
            </a:endParaRPr>
          </a:p>
          <a:p>
            <a:pPr>
              <a:lnSpc>
                <a:spcPts val="4275"/>
              </a:lnSpc>
              <a:buNone/>
            </a:pPr>
            <a:r>
              <a:rPr lang="en-IN" b="0" i="0" dirty="0">
                <a:effectLst/>
                <a:latin typeface="Playfair Display" panose="00000500000000000000" pitchFamily="2" charset="0"/>
              </a:rPr>
              <a:t>•• Develop a Django web application.</a:t>
            </a:r>
            <a:endParaRPr lang="en-IN" dirty="0">
              <a:effectLst/>
              <a:latin typeface="Playfair Display" panose="00000500000000000000" pitchFamily="2" charset="0"/>
            </a:endParaRPr>
          </a:p>
          <a:p>
            <a:pPr>
              <a:lnSpc>
                <a:spcPts val="4275"/>
              </a:lnSpc>
              <a:buNone/>
            </a:pPr>
            <a:r>
              <a:rPr lang="en-IN" b="0" i="0" dirty="0">
                <a:effectLst/>
                <a:latin typeface="Playfair Display" panose="00000500000000000000" pitchFamily="2" charset="0"/>
              </a:rPr>
              <a:t>•• Promote early awareness.</a:t>
            </a:r>
            <a:endParaRPr lang="en-IN" dirty="0">
              <a:effectLst/>
              <a:latin typeface="Playfair Display" panose="00000500000000000000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6874" r="-687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3968" y="275592"/>
            <a:ext cx="3378431" cy="981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1000" y="1291082"/>
            <a:ext cx="16220180" cy="7849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•Source: </a:t>
            </a: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Kaggle - PCOS Dataset     </a:t>
            </a:r>
            <a:r>
              <a:rPr lang="en-US" sz="37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                                                                        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•Description: </a:t>
            </a: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Health records of women with and without PCOS.  </a:t>
            </a:r>
            <a:r>
              <a:rPr lang="en-US" sz="37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             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 •Key Features:                                                                                                                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   </a:t>
            </a: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Age                                                                      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Height &amp; Weight                                            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• BMI                                                                    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Menstrual Cycle                                            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• Acne                                                                  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Hair Growth                                                   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Weight Gain                                                    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 Family History                                               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•Target: PCOS (Yes/No)   </a:t>
            </a:r>
            <a:r>
              <a:rPr lang="en-US" sz="37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                               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1146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6874" r="-687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609600" y="2649130"/>
            <a:ext cx="16569386" cy="7192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•1. Collect PCOS dataset.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endParaRPr lang="en-US" sz="3700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•2. Clean and preprocess data.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endParaRPr lang="en-US" sz="3700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•3. Train Random Forest classifier.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endParaRPr lang="en-US" sz="3700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•4. Save trained model.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endParaRPr lang="en-US" sz="3700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•5. Integrate model with Django. 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endParaRPr lang="en-US" sz="3700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•6. Predict Low/High Risk.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636740" y="114300"/>
            <a:ext cx="10237940" cy="981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Proposed 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6874" r="-687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2204" y="457200"/>
            <a:ext cx="6885396" cy="981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Algorithm Used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2552700"/>
            <a:ext cx="13395223" cy="637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•Random Forest Classifier                          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endParaRPr lang="en-US" sz="4500" b="1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•Why Random Forest?                                   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High accuracy                                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Handles multiple health features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•• Less overfitting                                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•• Suitable for classification problems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•Output: Low Risk / High Risk   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6874" r="-687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695516" y="378845"/>
            <a:ext cx="16621316" cy="1063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Implementation Process &amp; Workflow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3277871"/>
            <a:ext cx="14732510" cy="5980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User enters health details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↓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Django receives input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↓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 sent to trained Random Forest model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↓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Model predicts PCOS risk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↓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Result displayed and optionally stored in SQLite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992479" y="-2844137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6874" r="-687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8968" y="699580"/>
            <a:ext cx="14422432" cy="981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Significance of Proposed Approach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00266" y="3045468"/>
            <a:ext cx="11654433" cy="699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Provides quick preliminary risk assessment.</a:t>
            </a:r>
          </a:p>
          <a:p>
            <a:pPr algn="ctr">
              <a:lnSpc>
                <a:spcPts val="6160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Supports early awareness                               </a:t>
            </a:r>
          </a:p>
          <a:p>
            <a:pPr algn="ctr">
              <a:lnSpc>
                <a:spcPts val="6160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Easy-to-use web interface.                             </a:t>
            </a:r>
          </a:p>
          <a:p>
            <a:pPr algn="ctr">
              <a:lnSpc>
                <a:spcPts val="6160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Demonstrates AI in healthcare.                       </a:t>
            </a:r>
          </a:p>
          <a:p>
            <a:pPr algn="ctr">
              <a:lnSpc>
                <a:spcPts val="6160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Low-cost educational screening solution.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6874" r="-687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43048"/>
            <a:ext cx="14058900" cy="981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Relevance &amp; Practical Applications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8803" y="2617829"/>
            <a:ext cx="11716706" cy="5980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Health awareness portals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endParaRPr lang="en-US" sz="3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Hospitals/clinics (screening support)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endParaRPr lang="en-US" sz="3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Women's healthcare awareness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endParaRPr lang="en-US" sz="3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Academic AI/ML project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endParaRPr lang="en-US" sz="3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Future integration with mobile health apps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6874" r="-687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18194" y="914400"/>
            <a:ext cx="8435405" cy="981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Expected Outcome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8901" y="2947185"/>
            <a:ext cx="16224171" cy="3860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23"/>
              </a:lnSpc>
              <a:spcBef>
                <a:spcPct val="0"/>
              </a:spcBef>
            </a:pPr>
            <a:r>
              <a:rPr lang="en-US" sz="5516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Instant prediction.</a:t>
            </a:r>
          </a:p>
          <a:p>
            <a:pPr algn="ctr">
              <a:lnSpc>
                <a:spcPts val="7723"/>
              </a:lnSpc>
              <a:spcBef>
                <a:spcPct val="0"/>
              </a:spcBef>
            </a:pPr>
            <a:r>
              <a:rPr lang="en-US" sz="5516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User classified as Low Risk or High Risk.</a:t>
            </a:r>
          </a:p>
          <a:p>
            <a:pPr algn="ctr">
              <a:lnSpc>
                <a:spcPts val="7723"/>
              </a:lnSpc>
              <a:spcBef>
                <a:spcPct val="0"/>
              </a:spcBef>
            </a:pPr>
            <a:r>
              <a:rPr lang="en-US" sz="5516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Encourages timely medical consultation.</a:t>
            </a:r>
          </a:p>
          <a:p>
            <a:pPr algn="ctr">
              <a:lnSpc>
                <a:spcPts val="7723"/>
              </a:lnSpc>
              <a:spcBef>
                <a:spcPct val="0"/>
              </a:spcBef>
            </a:pPr>
            <a:r>
              <a:rPr lang="en-US" sz="5516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•• Demonstrates practical use of Machine Learning.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5263" y="-32766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6874" r="-687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57200"/>
            <a:ext cx="7581900" cy="981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References (IEEE)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2912368"/>
            <a:ext cx="18288000" cy="3580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•[1] R. Azziz et al., “Polycystic Ovary Syndrome,” Nature Reviews Disease Primers, vol. 2, 2016.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•[2] H. J. Teede et al., “International Evidence-Based Guideline for the Assessment and Management of PCOS,” Human Reproduction, vol. 33, no. 9, 2018.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•[3] F. Pedregosa et al., “Scikit-learn: Machine Learning in Python,” JMLR, vol. 12, 2011.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39238" y="481996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460</Words>
  <Application>Microsoft Office PowerPoint</Application>
  <PresentationFormat>Custom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Playfair Display Bold</vt:lpstr>
      <vt:lpstr>Calibri</vt:lpstr>
      <vt:lpstr>Playfair Display</vt:lpstr>
      <vt:lpstr>Scheherazade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CHRISTY JOMON</dc:creator>
  <cp:lastModifiedBy>CHRISTY JOMON</cp:lastModifiedBy>
  <cp:revision>5</cp:revision>
  <dcterms:created xsi:type="dcterms:W3CDTF">2006-08-16T00:00:00Z</dcterms:created>
  <dcterms:modified xsi:type="dcterms:W3CDTF">2026-08-04T19:02:54Z</dcterms:modified>
  <dc:identifier>DAHO5gavesE</dc:identifier>
</cp:coreProperties>
</file>